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ublic Sans" charset="1" panose="00000000000000000000"/>
      <p:regular r:id="rId20"/>
    </p:embeddedFont>
    <p:embeddedFont>
      <p:font typeface="Lexend Deca" charset="1" panose="00000000000000000000"/>
      <p:regular r:id="rId21"/>
    </p:embeddedFont>
    <p:embeddedFont>
      <p:font typeface="Public Sans Bold" charset="1" panose="00000000000000000000"/>
      <p:regular r:id="rId22"/>
    </p:embeddedFont>
    <p:embeddedFont>
      <p:font typeface="Open Sans Bold" charset="1" panose="00000000000000000000"/>
      <p:regular r:id="rId23"/>
    </p:embeddedFont>
    <p:embeddedFont>
      <p:font typeface="Times New Roman" charset="1" panose="02020603050405020304"/>
      <p:regular r:id="rId24"/>
    </p:embeddedFont>
    <p:embeddedFont>
      <p:font typeface="Public Sans Bold Italics" charset="1" panose="00000000000000000000"/>
      <p:regular r:id="rId25"/>
    </p:embeddedFont>
    <p:embeddedFont>
      <p:font typeface="Public Sans Italics" charset="1" panose="00000000000000000000"/>
      <p:regular r:id="rId26"/>
    </p:embeddedFont>
    <p:embeddedFont>
      <p:font typeface="Times New Roman Bold" charset="1" panose="020208030705050203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9452" y="0"/>
            <a:ext cx="2848548" cy="2201810"/>
          </a:xfrm>
          <a:custGeom>
            <a:avLst/>
            <a:gdLst/>
            <a:ahLst/>
            <a:cxnLst/>
            <a:rect r="r" b="b" t="t" l="l"/>
            <a:pathLst>
              <a:path h="2201810" w="2848548">
                <a:moveTo>
                  <a:pt x="0" y="0"/>
                </a:moveTo>
                <a:lnTo>
                  <a:pt x="2848548" y="0"/>
                </a:lnTo>
                <a:lnTo>
                  <a:pt x="2848548" y="2201810"/>
                </a:lnTo>
                <a:lnTo>
                  <a:pt x="0" y="2201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686" r="0" b="-1468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81108" y="2467476"/>
            <a:ext cx="9525783" cy="1341028"/>
            <a:chOff x="0" y="0"/>
            <a:chExt cx="2674762" cy="376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74762" cy="376550"/>
            </a:xfrm>
            <a:custGeom>
              <a:avLst/>
              <a:gdLst/>
              <a:ahLst/>
              <a:cxnLst/>
              <a:rect r="r" b="b" t="t" l="l"/>
              <a:pathLst>
                <a:path h="376550" w="2674762">
                  <a:moveTo>
                    <a:pt x="0" y="0"/>
                  </a:moveTo>
                  <a:lnTo>
                    <a:pt x="2674762" y="0"/>
                  </a:lnTo>
                  <a:lnTo>
                    <a:pt x="2674762" y="376550"/>
                  </a:lnTo>
                  <a:lnTo>
                    <a:pt x="0" y="376550"/>
                  </a:lnTo>
                  <a:close/>
                </a:path>
              </a:pathLst>
            </a:custGeom>
            <a:solidFill>
              <a:srgbClr val="FDFBF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674762" cy="452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Filière : Génie Logiciel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98667" y="8632110"/>
            <a:ext cx="2789333" cy="1654890"/>
          </a:xfrm>
          <a:custGeom>
            <a:avLst/>
            <a:gdLst/>
            <a:ahLst/>
            <a:cxnLst/>
            <a:rect r="r" b="b" t="t" l="l"/>
            <a:pathLst>
              <a:path h="1654890" w="2789333">
                <a:moveTo>
                  <a:pt x="0" y="0"/>
                </a:moveTo>
                <a:lnTo>
                  <a:pt x="2789333" y="0"/>
                </a:lnTo>
                <a:lnTo>
                  <a:pt x="2789333" y="1654890"/>
                </a:lnTo>
                <a:lnTo>
                  <a:pt x="0" y="165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27" t="0" r="-6427" b="-1329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22265" y="3948722"/>
            <a:ext cx="15243469" cy="310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0"/>
              </a:lnSpc>
            </a:pPr>
            <a:r>
              <a:rPr lang="en-US" sz="8000">
                <a:solidFill>
                  <a:srgbClr val="4C3D3B"/>
                </a:solidFill>
                <a:latin typeface="Lexend Deca"/>
                <a:ea typeface="Lexend Deca"/>
                <a:cs typeface="Lexend Deca"/>
                <a:sym typeface="Lexend Deca"/>
              </a:rPr>
              <a:t>Système d'aide à la décis</a:t>
            </a:r>
            <a:r>
              <a:rPr lang="en-US" sz="8000">
                <a:solidFill>
                  <a:srgbClr val="4C3D3B"/>
                </a:solidFill>
                <a:latin typeface="Lexend Deca"/>
                <a:ea typeface="Lexend Deca"/>
                <a:cs typeface="Lexend Deca"/>
                <a:sym typeface="Lexend Deca"/>
              </a:rPr>
              <a:t>ion pour améliorer la fidélisation client dans le e-commerce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9857" y="7552202"/>
            <a:ext cx="2820315" cy="51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78"/>
              </a:lnSpc>
            </a:pPr>
            <a:r>
              <a:rPr lang="en-US" b="true" sz="2984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Présenté par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06892" y="7513612"/>
            <a:ext cx="3392091" cy="55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8"/>
              </a:lnSpc>
              <a:spcBef>
                <a:spcPct val="0"/>
              </a:spcBef>
            </a:pPr>
            <a:r>
              <a:rPr lang="en-US" b="true" sz="297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Membres de jury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92938" y="9692334"/>
            <a:ext cx="5302125" cy="49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</a:pPr>
            <a:r>
              <a:rPr lang="en-US" b="true" sz="268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Année universitaire : 2025-2026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60158" y="8257451"/>
            <a:ext cx="6438825" cy="116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8"/>
              </a:lnSpc>
            </a:pPr>
            <a:r>
              <a:rPr lang="en-US" sz="3355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Pr.YOUNESS TABII</a:t>
            </a:r>
          </a:p>
          <a:p>
            <a:pPr algn="r">
              <a:lnSpc>
                <a:spcPts val="469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951676" y="9720909"/>
            <a:ext cx="336324" cy="51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78"/>
              </a:lnSpc>
            </a:pPr>
            <a:r>
              <a:rPr lang="en-US" b="true" sz="2984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180" y="8273771"/>
            <a:ext cx="3937669" cy="116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8"/>
              </a:lnSpc>
            </a:pPr>
            <a:r>
              <a:rPr lang="en-US" sz="3355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KALLAH WISSAL</a:t>
            </a:r>
          </a:p>
          <a:p>
            <a:pPr algn="r">
              <a:lnSpc>
                <a:spcPts val="4698"/>
              </a:lnSpc>
            </a:pPr>
            <a:r>
              <a:rPr lang="en-US" b="true" sz="3355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MLOUKI AYA      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2993597" cy="2201810"/>
          </a:xfrm>
          <a:custGeom>
            <a:avLst/>
            <a:gdLst/>
            <a:ahLst/>
            <a:cxnLst/>
            <a:rect r="r" b="b" t="t" l="l"/>
            <a:pathLst>
              <a:path h="2201810" w="2993597">
                <a:moveTo>
                  <a:pt x="0" y="0"/>
                </a:moveTo>
                <a:lnTo>
                  <a:pt x="2993597" y="0"/>
                </a:lnTo>
                <a:lnTo>
                  <a:pt x="2993597" y="2201810"/>
                </a:lnTo>
                <a:lnTo>
                  <a:pt x="0" y="2201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681" r="0" b="-1327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39738" y="2110936"/>
            <a:ext cx="11780099" cy="4745122"/>
            <a:chOff x="0" y="0"/>
            <a:chExt cx="15706799" cy="632683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564451" y="-76200"/>
              <a:ext cx="14142348" cy="722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7"/>
                </a:lnSpc>
              </a:pPr>
              <a:r>
                <a:rPr lang="en-US" b="true" sz="3226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Introduction &amp; Problématique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61903" y="1325728"/>
              <a:ext cx="13288101" cy="722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7"/>
                </a:lnSpc>
              </a:pPr>
              <a:r>
                <a:rPr lang="en-US" b="true" sz="3226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Données utilisées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546293" y="2727656"/>
              <a:ext cx="11255357" cy="722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7"/>
                </a:lnSpc>
              </a:pPr>
              <a:r>
                <a:rPr lang="en-US" b="true" sz="3226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Résultats d'analyse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546293" y="4202381"/>
              <a:ext cx="8325332" cy="722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7"/>
                </a:lnSpc>
              </a:pPr>
              <a:r>
                <a:rPr lang="en-US" b="true" sz="3226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Modèle prédictif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625454" y="5604309"/>
              <a:ext cx="8325332" cy="722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7"/>
                </a:lnSpc>
              </a:pPr>
              <a:r>
                <a:rPr lang="en-US" b="true" sz="3226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Dashboard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103084"/>
              <a:ext cx="667815" cy="543237"/>
              <a:chOff x="0" y="0"/>
              <a:chExt cx="999195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9919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99195">
                    <a:moveTo>
                      <a:pt x="499597" y="0"/>
                    </a:moveTo>
                    <a:cubicBezTo>
                      <a:pt x="223677" y="0"/>
                      <a:pt x="0" y="181951"/>
                      <a:pt x="0" y="406400"/>
                    </a:cubicBezTo>
                    <a:cubicBezTo>
                      <a:pt x="0" y="630849"/>
                      <a:pt x="223677" y="812800"/>
                      <a:pt x="499597" y="812800"/>
                    </a:cubicBezTo>
                    <a:cubicBezTo>
                      <a:pt x="775517" y="812800"/>
                      <a:pt x="999195" y="630849"/>
                      <a:pt x="999195" y="406400"/>
                    </a:cubicBezTo>
                    <a:cubicBezTo>
                      <a:pt x="999195" y="181951"/>
                      <a:pt x="775517" y="0"/>
                      <a:pt x="499597" y="0"/>
                    </a:cubicBezTo>
                    <a:close/>
                  </a:path>
                </a:pathLst>
              </a:custGeom>
              <a:solidFill>
                <a:srgbClr val="FFC31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93675" y="9525"/>
                <a:ext cx="811846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381665"/>
              <a:ext cx="667815" cy="543237"/>
              <a:chOff x="0" y="0"/>
              <a:chExt cx="999195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9919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99195">
                    <a:moveTo>
                      <a:pt x="499597" y="0"/>
                    </a:moveTo>
                    <a:cubicBezTo>
                      <a:pt x="223677" y="0"/>
                      <a:pt x="0" y="181951"/>
                      <a:pt x="0" y="406400"/>
                    </a:cubicBezTo>
                    <a:cubicBezTo>
                      <a:pt x="0" y="630849"/>
                      <a:pt x="223677" y="812800"/>
                      <a:pt x="499597" y="812800"/>
                    </a:cubicBezTo>
                    <a:cubicBezTo>
                      <a:pt x="775517" y="812800"/>
                      <a:pt x="999195" y="630849"/>
                      <a:pt x="999195" y="406400"/>
                    </a:cubicBezTo>
                    <a:cubicBezTo>
                      <a:pt x="999195" y="181951"/>
                      <a:pt x="775517" y="0"/>
                      <a:pt x="499597" y="0"/>
                    </a:cubicBezTo>
                    <a:close/>
                  </a:path>
                </a:pathLst>
              </a:custGeom>
              <a:solidFill>
                <a:srgbClr val="FFC31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93675" y="9525"/>
                <a:ext cx="811846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2979737"/>
              <a:ext cx="667815" cy="543237"/>
              <a:chOff x="0" y="0"/>
              <a:chExt cx="999195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919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99195">
                    <a:moveTo>
                      <a:pt x="499597" y="0"/>
                    </a:moveTo>
                    <a:cubicBezTo>
                      <a:pt x="223677" y="0"/>
                      <a:pt x="0" y="181951"/>
                      <a:pt x="0" y="406400"/>
                    </a:cubicBezTo>
                    <a:cubicBezTo>
                      <a:pt x="0" y="630849"/>
                      <a:pt x="223677" y="812800"/>
                      <a:pt x="499597" y="812800"/>
                    </a:cubicBezTo>
                    <a:cubicBezTo>
                      <a:pt x="775517" y="812800"/>
                      <a:pt x="999195" y="630849"/>
                      <a:pt x="999195" y="406400"/>
                    </a:cubicBezTo>
                    <a:cubicBezTo>
                      <a:pt x="999195" y="181951"/>
                      <a:pt x="775517" y="0"/>
                      <a:pt x="499597" y="0"/>
                    </a:cubicBezTo>
                    <a:close/>
                  </a:path>
                </a:pathLst>
              </a:custGeom>
              <a:solidFill>
                <a:srgbClr val="FFC31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93675" y="9525"/>
                <a:ext cx="811846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505012"/>
              <a:ext cx="667815" cy="543237"/>
              <a:chOff x="0" y="0"/>
              <a:chExt cx="999195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9919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99195">
                    <a:moveTo>
                      <a:pt x="499597" y="0"/>
                    </a:moveTo>
                    <a:cubicBezTo>
                      <a:pt x="223677" y="0"/>
                      <a:pt x="0" y="181951"/>
                      <a:pt x="0" y="406400"/>
                    </a:cubicBezTo>
                    <a:cubicBezTo>
                      <a:pt x="0" y="630849"/>
                      <a:pt x="223677" y="812800"/>
                      <a:pt x="499597" y="812800"/>
                    </a:cubicBezTo>
                    <a:cubicBezTo>
                      <a:pt x="775517" y="812800"/>
                      <a:pt x="999195" y="630849"/>
                      <a:pt x="999195" y="406400"/>
                    </a:cubicBezTo>
                    <a:cubicBezTo>
                      <a:pt x="999195" y="181951"/>
                      <a:pt x="775517" y="0"/>
                      <a:pt x="499597" y="0"/>
                    </a:cubicBezTo>
                    <a:close/>
                  </a:path>
                </a:pathLst>
              </a:custGeom>
              <a:solidFill>
                <a:srgbClr val="FFC31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93675" y="9525"/>
                <a:ext cx="811846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5783593"/>
              <a:ext cx="667815" cy="543237"/>
              <a:chOff x="0" y="0"/>
              <a:chExt cx="999195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919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99195">
                    <a:moveTo>
                      <a:pt x="499597" y="0"/>
                    </a:moveTo>
                    <a:cubicBezTo>
                      <a:pt x="223677" y="0"/>
                      <a:pt x="0" y="181951"/>
                      <a:pt x="0" y="406400"/>
                    </a:cubicBezTo>
                    <a:cubicBezTo>
                      <a:pt x="0" y="630849"/>
                      <a:pt x="223677" y="812800"/>
                      <a:pt x="499597" y="812800"/>
                    </a:cubicBezTo>
                    <a:cubicBezTo>
                      <a:pt x="775517" y="812800"/>
                      <a:pt x="999195" y="630849"/>
                      <a:pt x="999195" y="406400"/>
                    </a:cubicBezTo>
                    <a:cubicBezTo>
                      <a:pt x="999195" y="181951"/>
                      <a:pt x="775517" y="0"/>
                      <a:pt x="499597" y="0"/>
                    </a:cubicBezTo>
                    <a:close/>
                  </a:path>
                </a:pathLst>
              </a:custGeom>
              <a:solidFill>
                <a:srgbClr val="FFC31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93675" y="9525"/>
                <a:ext cx="811846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0">
            <a:off x="1335704" y="6665136"/>
            <a:ext cx="3389014" cy="3370529"/>
          </a:xfrm>
          <a:custGeom>
            <a:avLst/>
            <a:gdLst/>
            <a:ahLst/>
            <a:cxnLst/>
            <a:rect r="r" b="b" t="t" l="l"/>
            <a:pathLst>
              <a:path h="3370529" w="3389014">
                <a:moveTo>
                  <a:pt x="0" y="0"/>
                </a:moveTo>
                <a:lnTo>
                  <a:pt x="3389014" y="0"/>
                </a:lnTo>
                <a:lnTo>
                  <a:pt x="3389014" y="3370529"/>
                </a:lnTo>
                <a:lnTo>
                  <a:pt x="0" y="3370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0">
            <a:off x="0" y="6172200"/>
            <a:ext cx="4724718" cy="4114800"/>
          </a:xfrm>
          <a:custGeom>
            <a:avLst/>
            <a:gdLst/>
            <a:ahLst/>
            <a:cxnLst/>
            <a:rect r="r" b="b" t="t" l="l"/>
            <a:pathLst>
              <a:path h="4114800" w="4724718">
                <a:moveTo>
                  <a:pt x="472471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724718" y="0"/>
                </a:lnTo>
                <a:lnTo>
                  <a:pt x="472471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4345" y="625792"/>
            <a:ext cx="4180373" cy="167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3"/>
              </a:lnSpc>
            </a:pPr>
            <a:r>
              <a:rPr lang="en-US" sz="12720" u="sng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Plan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41315" y="7399004"/>
            <a:ext cx="834935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Recommandations &amp;  Conclusion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39738" y="7542346"/>
            <a:ext cx="496680" cy="404027"/>
            <a:chOff x="0" y="0"/>
            <a:chExt cx="999195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195" cy="812800"/>
            </a:xfrm>
            <a:custGeom>
              <a:avLst/>
              <a:gdLst/>
              <a:ahLst/>
              <a:cxnLst/>
              <a:rect r="r" b="b" t="t" l="l"/>
              <a:pathLst>
                <a:path h="812800" w="999195">
                  <a:moveTo>
                    <a:pt x="499597" y="0"/>
                  </a:moveTo>
                  <a:cubicBezTo>
                    <a:pt x="223677" y="0"/>
                    <a:pt x="0" y="181951"/>
                    <a:pt x="0" y="406400"/>
                  </a:cubicBezTo>
                  <a:cubicBezTo>
                    <a:pt x="0" y="630849"/>
                    <a:pt x="223677" y="812800"/>
                    <a:pt x="499597" y="812800"/>
                  </a:cubicBezTo>
                  <a:cubicBezTo>
                    <a:pt x="775517" y="812800"/>
                    <a:pt x="999195" y="630849"/>
                    <a:pt x="999195" y="406400"/>
                  </a:cubicBezTo>
                  <a:cubicBezTo>
                    <a:pt x="999195" y="181951"/>
                    <a:pt x="775517" y="0"/>
                    <a:pt x="499597" y="0"/>
                  </a:cubicBezTo>
                  <a:close/>
                </a:path>
              </a:pathLst>
            </a:custGeom>
            <a:solidFill>
              <a:srgbClr val="FFC31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93675" y="9525"/>
              <a:ext cx="811846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4054" y="2133356"/>
            <a:ext cx="16679892" cy="712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1"/>
              </a:lnSpc>
            </a:pPr>
            <a:r>
              <a:rPr lang="en-US" sz="4215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utiliser les données pour augmenter la fidélisation des clients </a:t>
            </a:r>
          </a:p>
          <a:p>
            <a:pPr algn="ctr">
              <a:lnSpc>
                <a:spcPts val="5901"/>
              </a:lnSpc>
            </a:pPr>
            <a:r>
              <a:rPr lang="en-US" sz="4215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les revenus ?</a:t>
            </a:r>
          </a:p>
          <a:p>
            <a:pPr algn="ctr">
              <a:lnSpc>
                <a:spcPts val="5621"/>
              </a:lnSpc>
            </a:pPr>
          </a:p>
          <a:p>
            <a:pPr algn="ctr">
              <a:lnSpc>
                <a:spcPts val="5621"/>
              </a:lnSpc>
            </a:pPr>
          </a:p>
          <a:p>
            <a:pPr algn="l" marL="866924" indent="-433462" lvl="1">
              <a:lnSpc>
                <a:spcPts val="5621"/>
              </a:lnSpc>
              <a:buFont typeface="Arial"/>
              <a:buChar char="•"/>
            </a:pPr>
            <a:r>
              <a:rPr lang="en-US" sz="4015">
                <a:solidFill>
                  <a:srgbClr val="4C3D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Quels clients risquent de partir ?</a:t>
            </a:r>
          </a:p>
          <a:p>
            <a:pPr algn="l" marL="866924" indent="-433462" lvl="1">
              <a:lnSpc>
                <a:spcPts val="5621"/>
              </a:lnSpc>
              <a:buFont typeface="Arial"/>
              <a:buChar char="•"/>
            </a:pPr>
            <a:r>
              <a:rPr lang="en-US" sz="4015">
                <a:solidFill>
                  <a:srgbClr val="4C3D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Quels facteurs influencent la satisfaction ?</a:t>
            </a:r>
          </a:p>
          <a:p>
            <a:pPr algn="l" marL="866924" indent="-433462" lvl="1">
              <a:lnSpc>
                <a:spcPts val="5621"/>
              </a:lnSpc>
              <a:buFont typeface="Arial"/>
              <a:buChar char="•"/>
            </a:pPr>
            <a:r>
              <a:rPr lang="en-US" sz="4015">
                <a:solidFill>
                  <a:srgbClr val="4C3D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Quels produits génèrent le plus de revenus ?</a:t>
            </a:r>
          </a:p>
          <a:p>
            <a:pPr algn="l">
              <a:lnSpc>
                <a:spcPts val="5621"/>
              </a:lnSpc>
            </a:pPr>
          </a:p>
          <a:p>
            <a:pPr algn="l">
              <a:lnSpc>
                <a:spcPts val="5621"/>
              </a:lnSpc>
            </a:pPr>
          </a:p>
          <a:p>
            <a:pPr algn="ctr">
              <a:lnSpc>
                <a:spcPts val="5621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132440" y="4296946"/>
            <a:ext cx="6362600" cy="3756774"/>
          </a:xfrm>
          <a:custGeom>
            <a:avLst/>
            <a:gdLst/>
            <a:ahLst/>
            <a:cxnLst/>
            <a:rect r="r" b="b" t="t" l="l"/>
            <a:pathLst>
              <a:path h="3756774" w="6362600">
                <a:moveTo>
                  <a:pt x="0" y="0"/>
                </a:moveTo>
                <a:lnTo>
                  <a:pt x="6362599" y="0"/>
                </a:lnTo>
                <a:lnTo>
                  <a:pt x="6362599" y="3756774"/>
                </a:lnTo>
                <a:lnTo>
                  <a:pt x="0" y="375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88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879333"/>
          <a:ext cx="15987517" cy="4724400"/>
        </p:xfrm>
        <a:graphic>
          <a:graphicData uri="http://schemas.openxmlformats.org/drawingml/2006/table">
            <a:tbl>
              <a:tblPr/>
              <a:tblGrid>
                <a:gridCol w="3987066"/>
                <a:gridCol w="7081709"/>
                <a:gridCol w="4918742"/>
              </a:tblGrid>
              <a:tr h="11907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179"/>
                        </a:lnSpc>
                        <a:defRPr/>
                      </a:pPr>
                      <a:r>
                        <a:rPr lang="en-US" sz="3699" b="true">
                          <a:solidFill>
                            <a:srgbClr val="FF99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51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699" strike="noStrike" u="none">
                          <a:solidFill>
                            <a:srgbClr val="FF99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51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699" strike="noStrike" u="none">
                          <a:solidFill>
                            <a:srgbClr val="FF99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Volume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95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Olist e-commerce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Commandes, clients, livraisons, paiements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100 000+ commandes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06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Instacart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Historique d’achats et paniers clients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 millions+ commandes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Amazon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Avis et notes des clients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centaines de milliers d’avis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28700" y="7834976"/>
            <a:ext cx="1271783" cy="360724"/>
          </a:xfrm>
          <a:custGeom>
            <a:avLst/>
            <a:gdLst/>
            <a:ahLst/>
            <a:cxnLst/>
            <a:rect r="r" b="b" t="t" l="l"/>
            <a:pathLst>
              <a:path h="360724" w="1271783">
                <a:moveTo>
                  <a:pt x="0" y="0"/>
                </a:moveTo>
                <a:lnTo>
                  <a:pt x="1271783" y="0"/>
                </a:lnTo>
                <a:lnTo>
                  <a:pt x="1271783" y="360724"/>
                </a:lnTo>
                <a:lnTo>
                  <a:pt x="0" y="360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43566" y="7613383"/>
            <a:ext cx="12347144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Nous avons combiné plusieurs s</a:t>
            </a:r>
            <a:r>
              <a:rPr lang="en-US" sz="2699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ources de données afin d’obtenir une vision complète du parcours client : de l’achat jusqu’à la satisfaction.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33937"/>
            <a:ext cx="16464934" cy="687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262"/>
              </a:lnSpc>
            </a:pPr>
            <a:r>
              <a:rPr lang="en-US" sz="35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n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ous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 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découv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râc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donné</a:t>
            </a:r>
            <a:r>
              <a:rPr lang="en-US" sz="35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</a:t>
            </a:r>
          </a:p>
          <a:p>
            <a:pPr algn="l">
              <a:lnSpc>
                <a:spcPts val="6970"/>
              </a:lnSpc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937" strike="noStrike" u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Livraison = satisfaction</a:t>
            </a:r>
          </a:p>
          <a:p>
            <a:pPr algn="l">
              <a:lnSpc>
                <a:spcPts val="6970"/>
              </a:lnSpc>
            </a:pPr>
            <a:r>
              <a:rPr lang="en-US" sz="3937" strike="noStrike" u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en-US" b="true" sz="39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</a:t>
            </a:r>
            <a:r>
              <a:rPr lang="en-US" sz="3937" strike="noStrike" u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clients livrés à l’heure sont plus satisfaits</a:t>
            </a:r>
          </a:p>
          <a:p>
            <a:pPr algn="l">
              <a:lnSpc>
                <a:spcPts val="6970"/>
              </a:lnSpc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- </a:t>
            </a: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retards réduisent fortement les avis</a:t>
            </a:r>
          </a:p>
          <a:p>
            <a:pPr algn="just">
              <a:lnSpc>
                <a:spcPts val="6970"/>
              </a:lnSpc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937" strike="noStrike" u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fidèles = plus de valeur</a:t>
            </a:r>
          </a:p>
          <a:p>
            <a:pPr algn="just">
              <a:lnSpc>
                <a:spcPts val="6970"/>
              </a:lnSpc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-  </a:t>
            </a: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clients fidèles génèrent beaucoup plus de revenus</a:t>
            </a:r>
          </a:p>
          <a:p>
            <a:pPr algn="just">
              <a:lnSpc>
                <a:spcPts val="6970"/>
              </a:lnSpc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-  </a:t>
            </a: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 petite partie des clients crée la majorité du chiffre d’affaires</a:t>
            </a:r>
          </a:p>
          <a:p>
            <a:pPr algn="just" marL="0" indent="0" lvl="0">
              <a:lnSpc>
                <a:spcPts val="697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4366" y="978181"/>
            <a:ext cx="16464934" cy="696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70"/>
              </a:lnSpc>
            </a:pPr>
            <a:r>
              <a:rPr lang="en-US" sz="3937" strike="noStrike" u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Tous les clients </a:t>
            </a:r>
            <a:r>
              <a:rPr lang="en-US" sz="3937" strike="noStrike" u="non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 sont pas identiques : </a:t>
            </a:r>
          </a:p>
          <a:p>
            <a:pPr algn="just">
              <a:lnSpc>
                <a:spcPts val="6970"/>
              </a:lnSpc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peut regrouper les clients en plusieurs profils :</a:t>
            </a:r>
          </a:p>
          <a:p>
            <a:pPr algn="just">
              <a:lnSpc>
                <a:spcPts val="6970"/>
              </a:lnSpc>
            </a:pPr>
          </a:p>
          <a:p>
            <a:pPr algn="just" marL="850187" indent="-425094" lvl="1">
              <a:lnSpc>
                <a:spcPts val="6970"/>
              </a:lnSpc>
              <a:buFont typeface="Arial"/>
              <a:buChar char="•"/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fidèles</a:t>
            </a:r>
          </a:p>
          <a:p>
            <a:pPr algn="just" marL="850187" indent="-425094" lvl="1">
              <a:lnSpc>
                <a:spcPts val="6970"/>
              </a:lnSpc>
              <a:buFont typeface="Arial"/>
              <a:buChar char="•"/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occasionnels</a:t>
            </a:r>
          </a:p>
          <a:p>
            <a:pPr algn="just" marL="850187" indent="-425094" lvl="1">
              <a:lnSpc>
                <a:spcPts val="6970"/>
              </a:lnSpc>
              <a:buFont typeface="Arial"/>
              <a:buChar char="•"/>
            </a:pPr>
            <a:r>
              <a:rPr lang="en-US" sz="3937" strike="noStrike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à risque</a:t>
            </a:r>
          </a:p>
          <a:p>
            <a:pPr algn="just">
              <a:lnSpc>
                <a:spcPts val="6970"/>
              </a:lnSpc>
            </a:pPr>
          </a:p>
          <a:p>
            <a:pPr algn="just" marL="0" indent="0" lvl="0">
              <a:lnSpc>
                <a:spcPts val="697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709286" y="2800199"/>
            <a:ext cx="8242389" cy="6698752"/>
          </a:xfrm>
          <a:custGeom>
            <a:avLst/>
            <a:gdLst/>
            <a:ahLst/>
            <a:cxnLst/>
            <a:rect r="r" b="b" t="t" l="l"/>
            <a:pathLst>
              <a:path h="6698752" w="8242389">
                <a:moveTo>
                  <a:pt x="0" y="0"/>
                </a:moveTo>
                <a:lnTo>
                  <a:pt x="8242390" y="0"/>
                </a:lnTo>
                <a:lnTo>
                  <a:pt x="8242390" y="6698753"/>
                </a:lnTo>
                <a:lnTo>
                  <a:pt x="0" y="6698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45" t="0" r="-104953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43311" y="1312451"/>
            <a:ext cx="1300137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 i="true">
                <a:solidFill>
                  <a:srgbClr val="FF99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Prédic</a:t>
            </a:r>
            <a:r>
              <a:rPr lang="en-US" b="true" sz="3399" i="true">
                <a:solidFill>
                  <a:srgbClr val="FF99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tion du risque de désengagement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7348" y="4417475"/>
            <a:ext cx="3932436" cy="26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F</a:t>
            </a: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réquence d'achat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Montant dépensé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Satisfaction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Livraison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88002" y="3133330"/>
            <a:ext cx="1655564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i="true" strike="noStrike" u="none">
                <a:solidFill>
                  <a:srgbClr val="A9D0DD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Entrées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241637" y="3133330"/>
            <a:ext cx="110002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i="true" strike="noStrike" u="none">
                <a:solidFill>
                  <a:srgbClr val="A9D0DD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──────►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49125" y="3133330"/>
            <a:ext cx="1500584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i="true" strike="noStrike" u="none">
                <a:solidFill>
                  <a:srgbClr val="A9D0DD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Modèle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04776" y="3155733"/>
            <a:ext cx="11812389" cy="58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i="true" strike="noStrike" u="none">
                <a:solidFill>
                  <a:srgbClr val="A9D0DD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──────►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01818" y="3152779"/>
            <a:ext cx="134649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i="true" strike="noStrike" u="none">
                <a:solidFill>
                  <a:srgbClr val="A9D0DD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Sortie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47810" y="5009520"/>
            <a:ext cx="2703215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i="true" strike="noStrike" u="non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Random Forest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6428" y="4523745"/>
            <a:ext cx="3225105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i="true" strike="noStrike" u="non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Client fidèle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i="true" strike="noStrike" u="non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Client à risque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313201"/>
            <a:ext cx="10927556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i="true" strike="noStrike" u="non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Notre modèle identifie correctement 74% des clients fidèles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67633" y="1278789"/>
            <a:ext cx="15152733" cy="8523412"/>
          </a:xfrm>
          <a:custGeom>
            <a:avLst/>
            <a:gdLst/>
            <a:ahLst/>
            <a:cxnLst/>
            <a:rect r="r" b="b" t="t" l="l"/>
            <a:pathLst>
              <a:path h="8523412" w="15152733">
                <a:moveTo>
                  <a:pt x="0" y="0"/>
                </a:moveTo>
                <a:lnTo>
                  <a:pt x="15152734" y="0"/>
                </a:lnTo>
                <a:lnTo>
                  <a:pt x="15152734" y="8523413"/>
                </a:lnTo>
                <a:lnTo>
                  <a:pt x="0" y="852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71783" y="1154914"/>
            <a:ext cx="14994692" cy="8397027"/>
          </a:xfrm>
          <a:custGeom>
            <a:avLst/>
            <a:gdLst/>
            <a:ahLst/>
            <a:cxnLst/>
            <a:rect r="r" b="b" t="t" l="l"/>
            <a:pathLst>
              <a:path h="8397027" w="14994692">
                <a:moveTo>
                  <a:pt x="0" y="0"/>
                </a:moveTo>
                <a:lnTo>
                  <a:pt x="14994692" y="0"/>
                </a:lnTo>
                <a:lnTo>
                  <a:pt x="14994692" y="8397028"/>
                </a:lnTo>
                <a:lnTo>
                  <a:pt x="0" y="8397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46659" y="1163236"/>
            <a:ext cx="14736828" cy="8215782"/>
          </a:xfrm>
          <a:custGeom>
            <a:avLst/>
            <a:gdLst/>
            <a:ahLst/>
            <a:cxnLst/>
            <a:rect r="r" b="b" t="t" l="l"/>
            <a:pathLst>
              <a:path h="8215782" w="14736828">
                <a:moveTo>
                  <a:pt x="0" y="0"/>
                </a:moveTo>
                <a:lnTo>
                  <a:pt x="14736828" y="0"/>
                </a:lnTo>
                <a:lnTo>
                  <a:pt x="14736828" y="8215781"/>
                </a:lnTo>
                <a:lnTo>
                  <a:pt x="0" y="8215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71783" y="1145406"/>
            <a:ext cx="15027642" cy="8396695"/>
          </a:xfrm>
          <a:custGeom>
            <a:avLst/>
            <a:gdLst/>
            <a:ahLst/>
            <a:cxnLst/>
            <a:rect r="r" b="b" t="t" l="l"/>
            <a:pathLst>
              <a:path h="8396695" w="15027642">
                <a:moveTo>
                  <a:pt x="0" y="0"/>
                </a:moveTo>
                <a:lnTo>
                  <a:pt x="15027642" y="0"/>
                </a:lnTo>
                <a:lnTo>
                  <a:pt x="15027642" y="8396695"/>
                </a:lnTo>
                <a:lnTo>
                  <a:pt x="0" y="839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45020" y="1461611"/>
            <a:ext cx="13830047" cy="7796689"/>
          </a:xfrm>
          <a:custGeom>
            <a:avLst/>
            <a:gdLst/>
            <a:ahLst/>
            <a:cxnLst/>
            <a:rect r="r" b="b" t="t" l="l"/>
            <a:pathLst>
              <a:path h="7796689" w="13830047">
                <a:moveTo>
                  <a:pt x="0" y="0"/>
                </a:moveTo>
                <a:lnTo>
                  <a:pt x="13830047" y="0"/>
                </a:lnTo>
                <a:lnTo>
                  <a:pt x="13830047" y="7796689"/>
                </a:lnTo>
                <a:lnTo>
                  <a:pt x="0" y="779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5807" y="8826415"/>
            <a:ext cx="2128761" cy="2117150"/>
          </a:xfrm>
          <a:custGeom>
            <a:avLst/>
            <a:gdLst/>
            <a:ahLst/>
            <a:cxnLst/>
            <a:rect r="r" b="b" t="t" l="l"/>
            <a:pathLst>
              <a:path h="2117150" w="2128761">
                <a:moveTo>
                  <a:pt x="0" y="0"/>
                </a:moveTo>
                <a:lnTo>
                  <a:pt x="2128761" y="0"/>
                </a:lnTo>
                <a:lnTo>
                  <a:pt x="2128761" y="2117149"/>
                </a:lnTo>
                <a:lnTo>
                  <a:pt x="0" y="211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543566" cy="892873"/>
            <a:chOff x="0" y="0"/>
            <a:chExt cx="714212" cy="250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4212" cy="250711"/>
            </a:xfrm>
            <a:custGeom>
              <a:avLst/>
              <a:gdLst/>
              <a:ahLst/>
              <a:cxnLst/>
              <a:rect r="r" b="b" t="t" l="l"/>
              <a:pathLst>
                <a:path h="250711" w="714212">
                  <a:moveTo>
                    <a:pt x="125356" y="0"/>
                  </a:moveTo>
                  <a:lnTo>
                    <a:pt x="588857" y="0"/>
                  </a:lnTo>
                  <a:cubicBezTo>
                    <a:pt x="622103" y="0"/>
                    <a:pt x="653988" y="13207"/>
                    <a:pt x="677497" y="36716"/>
                  </a:cubicBezTo>
                  <a:cubicBezTo>
                    <a:pt x="701005" y="60225"/>
                    <a:pt x="714212" y="92109"/>
                    <a:pt x="714212" y="125356"/>
                  </a:cubicBezTo>
                  <a:lnTo>
                    <a:pt x="714212" y="125356"/>
                  </a:lnTo>
                  <a:cubicBezTo>
                    <a:pt x="714212" y="158602"/>
                    <a:pt x="701005" y="190487"/>
                    <a:pt x="677497" y="213996"/>
                  </a:cubicBezTo>
                  <a:cubicBezTo>
                    <a:pt x="653988" y="237504"/>
                    <a:pt x="622103" y="250711"/>
                    <a:pt x="588857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714212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Introduction &amp; Problématique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43566" y="0"/>
            <a:ext cx="3761209" cy="811466"/>
            <a:chOff x="0" y="0"/>
            <a:chExt cx="1056117" cy="2278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6117" cy="227853"/>
            </a:xfrm>
            <a:custGeom>
              <a:avLst/>
              <a:gdLst/>
              <a:ahLst/>
              <a:cxnLst/>
              <a:rect r="r" b="b" t="t" l="l"/>
              <a:pathLst>
                <a:path h="227853" w="1056117">
                  <a:moveTo>
                    <a:pt x="113927" y="0"/>
                  </a:moveTo>
                  <a:lnTo>
                    <a:pt x="942190" y="0"/>
                  </a:lnTo>
                  <a:cubicBezTo>
                    <a:pt x="1005110" y="0"/>
                    <a:pt x="1056117" y="51007"/>
                    <a:pt x="1056117" y="113927"/>
                  </a:cubicBezTo>
                  <a:lnTo>
                    <a:pt x="1056117" y="113927"/>
                  </a:lnTo>
                  <a:cubicBezTo>
                    <a:pt x="1056117" y="176846"/>
                    <a:pt x="1005110" y="227853"/>
                    <a:pt x="942190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5611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Données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u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tilisées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04776" y="0"/>
            <a:ext cx="3698960" cy="811466"/>
            <a:chOff x="0" y="0"/>
            <a:chExt cx="1038637" cy="227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8637" cy="227853"/>
            </a:xfrm>
            <a:custGeom>
              <a:avLst/>
              <a:gdLst/>
              <a:ahLst/>
              <a:cxnLst/>
              <a:rect r="r" b="b" t="t" l="l"/>
              <a:pathLst>
                <a:path h="227853" w="1038637">
                  <a:moveTo>
                    <a:pt x="113927" y="0"/>
                  </a:moveTo>
                  <a:lnTo>
                    <a:pt x="924711" y="0"/>
                  </a:lnTo>
                  <a:cubicBezTo>
                    <a:pt x="987631" y="0"/>
                    <a:pt x="1038637" y="51007"/>
                    <a:pt x="1038637" y="113927"/>
                  </a:cubicBezTo>
                  <a:lnTo>
                    <a:pt x="1038637" y="113927"/>
                  </a:lnTo>
                  <a:cubicBezTo>
                    <a:pt x="1038637" y="176846"/>
                    <a:pt x="987631" y="227853"/>
                    <a:pt x="924711" y="227853"/>
                  </a:cubicBezTo>
                  <a:lnTo>
                    <a:pt x="113927" y="227853"/>
                  </a:lnTo>
                  <a:cubicBezTo>
                    <a:pt x="51007" y="227853"/>
                    <a:pt x="0" y="176846"/>
                    <a:pt x="0" y="113927"/>
                  </a:cubicBezTo>
                  <a:lnTo>
                    <a:pt x="0" y="113927"/>
                  </a:lnTo>
                  <a:cubicBezTo>
                    <a:pt x="0" y="51007"/>
                    <a:pt x="51007" y="0"/>
                    <a:pt x="113927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38637" cy="285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Résultats d'analyse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952412" y="0"/>
            <a:ext cx="2722654" cy="852170"/>
            <a:chOff x="0" y="0"/>
            <a:chExt cx="764499" cy="239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4499" cy="239282"/>
            </a:xfrm>
            <a:custGeom>
              <a:avLst/>
              <a:gdLst/>
              <a:ahLst/>
              <a:cxnLst/>
              <a:rect r="r" b="b" t="t" l="l"/>
              <a:pathLst>
                <a:path h="239282" w="764499">
                  <a:moveTo>
                    <a:pt x="119641" y="0"/>
                  </a:moveTo>
                  <a:lnTo>
                    <a:pt x="644858" y="0"/>
                  </a:lnTo>
                  <a:cubicBezTo>
                    <a:pt x="676589" y="0"/>
                    <a:pt x="707020" y="12605"/>
                    <a:pt x="729457" y="35042"/>
                  </a:cubicBezTo>
                  <a:cubicBezTo>
                    <a:pt x="751894" y="57479"/>
                    <a:pt x="764499" y="87910"/>
                    <a:pt x="764499" y="119641"/>
                  </a:cubicBezTo>
                  <a:lnTo>
                    <a:pt x="764499" y="119641"/>
                  </a:lnTo>
                  <a:cubicBezTo>
                    <a:pt x="764499" y="151372"/>
                    <a:pt x="751894" y="181803"/>
                    <a:pt x="729457" y="204240"/>
                  </a:cubicBezTo>
                  <a:cubicBezTo>
                    <a:pt x="707020" y="226677"/>
                    <a:pt x="676589" y="239282"/>
                    <a:pt x="644858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64499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Dashboard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75067" y="0"/>
            <a:ext cx="2612933" cy="892873"/>
            <a:chOff x="0" y="0"/>
            <a:chExt cx="733690" cy="2507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690" cy="250711"/>
            </a:xfrm>
            <a:custGeom>
              <a:avLst/>
              <a:gdLst/>
              <a:ahLst/>
              <a:cxnLst/>
              <a:rect r="r" b="b" t="t" l="l"/>
              <a:pathLst>
                <a:path h="250711" w="733690">
                  <a:moveTo>
                    <a:pt x="125356" y="0"/>
                  </a:moveTo>
                  <a:lnTo>
                    <a:pt x="608335" y="0"/>
                  </a:lnTo>
                  <a:cubicBezTo>
                    <a:pt x="641581" y="0"/>
                    <a:pt x="673466" y="13207"/>
                    <a:pt x="696974" y="36716"/>
                  </a:cubicBezTo>
                  <a:cubicBezTo>
                    <a:pt x="720483" y="60225"/>
                    <a:pt x="733690" y="92109"/>
                    <a:pt x="733690" y="125356"/>
                  </a:cubicBezTo>
                  <a:lnTo>
                    <a:pt x="733690" y="125356"/>
                  </a:lnTo>
                  <a:cubicBezTo>
                    <a:pt x="733690" y="194588"/>
                    <a:pt x="677567" y="250711"/>
                    <a:pt x="608335" y="250711"/>
                  </a:cubicBezTo>
                  <a:lnTo>
                    <a:pt x="125356" y="250711"/>
                  </a:lnTo>
                  <a:cubicBezTo>
                    <a:pt x="92109" y="250711"/>
                    <a:pt x="60225" y="237504"/>
                    <a:pt x="36716" y="213996"/>
                  </a:cubicBezTo>
                  <a:cubicBezTo>
                    <a:pt x="13207" y="190487"/>
                    <a:pt x="0" y="158602"/>
                    <a:pt x="0" y="125356"/>
                  </a:cubicBezTo>
                  <a:lnTo>
                    <a:pt x="0" y="125356"/>
                  </a:lnTo>
                  <a:cubicBezTo>
                    <a:pt x="0" y="92109"/>
                    <a:pt x="13207" y="60225"/>
                    <a:pt x="36716" y="36716"/>
                  </a:cubicBezTo>
                  <a:cubicBezTo>
                    <a:pt x="60225" y="13207"/>
                    <a:pt x="92109" y="0"/>
                    <a:pt x="125356" y="0"/>
                  </a:cubicBezTo>
                  <a:close/>
                </a:path>
              </a:pathLst>
            </a:custGeom>
            <a:solidFill>
              <a:srgbClr val="FFC310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33690" cy="307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Recommandations &amp;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 </a:t>
              </a: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Conclusion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03735" y="0"/>
            <a:ext cx="2948677" cy="852170"/>
            <a:chOff x="0" y="0"/>
            <a:chExt cx="827964" cy="2392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7964" cy="239282"/>
            </a:xfrm>
            <a:custGeom>
              <a:avLst/>
              <a:gdLst/>
              <a:ahLst/>
              <a:cxnLst/>
              <a:rect r="r" b="b" t="t" l="l"/>
              <a:pathLst>
                <a:path h="239282" w="827964">
                  <a:moveTo>
                    <a:pt x="119641" y="0"/>
                  </a:moveTo>
                  <a:lnTo>
                    <a:pt x="708323" y="0"/>
                  </a:lnTo>
                  <a:cubicBezTo>
                    <a:pt x="740054" y="0"/>
                    <a:pt x="770485" y="12605"/>
                    <a:pt x="792922" y="35042"/>
                  </a:cubicBezTo>
                  <a:cubicBezTo>
                    <a:pt x="815359" y="57479"/>
                    <a:pt x="827964" y="87910"/>
                    <a:pt x="827964" y="119641"/>
                  </a:cubicBezTo>
                  <a:lnTo>
                    <a:pt x="827964" y="119641"/>
                  </a:lnTo>
                  <a:cubicBezTo>
                    <a:pt x="827964" y="151372"/>
                    <a:pt x="815359" y="181803"/>
                    <a:pt x="792922" y="204240"/>
                  </a:cubicBezTo>
                  <a:cubicBezTo>
                    <a:pt x="770485" y="226677"/>
                    <a:pt x="740054" y="239282"/>
                    <a:pt x="708323" y="239282"/>
                  </a:cubicBezTo>
                  <a:lnTo>
                    <a:pt x="119641" y="239282"/>
                  </a:lnTo>
                  <a:cubicBezTo>
                    <a:pt x="87910" y="239282"/>
                    <a:pt x="57479" y="226677"/>
                    <a:pt x="35042" y="204240"/>
                  </a:cubicBezTo>
                  <a:cubicBezTo>
                    <a:pt x="12605" y="181803"/>
                    <a:pt x="0" y="151372"/>
                    <a:pt x="0" y="119641"/>
                  </a:cubicBezTo>
                  <a:lnTo>
                    <a:pt x="0" y="119641"/>
                  </a:lnTo>
                  <a:cubicBezTo>
                    <a:pt x="0" y="87910"/>
                    <a:pt x="12605" y="57479"/>
                    <a:pt x="35042" y="35042"/>
                  </a:cubicBezTo>
                  <a:cubicBezTo>
                    <a:pt x="57479" y="12605"/>
                    <a:pt x="87910" y="0"/>
                    <a:pt x="119641" y="0"/>
                  </a:cubicBezTo>
                  <a:close/>
                </a:path>
              </a:pathLst>
            </a:custGeom>
            <a:solidFill>
              <a:srgbClr val="A9D0DD"/>
            </a:solidFill>
            <a:ln w="952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27964" cy="296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 i="true">
                  <a:solidFill>
                    <a:srgbClr val="333333"/>
                  </a:solidFill>
                  <a:latin typeface="Public Sans Bold Italics"/>
                  <a:ea typeface="Public Sans Bold Italics"/>
                  <a:cs typeface="Public Sans Bold Italics"/>
                  <a:sym typeface="Public Sans Bold Italics"/>
                </a:rPr>
                <a:t>Modèle prédictif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62954" y="2009865"/>
            <a:ext cx="14058900" cy="47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Améli</a:t>
            </a: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orer les délais de livraison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Réduire les retards pour augmenter la satisfaction client.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Personnaliser les recommandations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Exploiter les comportements d'achat et la segmentation clients.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00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Cibler les clients à risque</a:t>
            </a:r>
          </a:p>
          <a:p>
            <a:pPr algn="l" marL="647694" indent="-323847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i="tru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Mettre en place des campagnes de réactivation basées sur le modèle prédictif.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i="tru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6030225"/>
            <a:ext cx="1036591" cy="683315"/>
            <a:chOff x="0" y="0"/>
            <a:chExt cx="1233021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3021" cy="812800"/>
            </a:xfrm>
            <a:custGeom>
              <a:avLst/>
              <a:gdLst/>
              <a:ahLst/>
              <a:cxnLst/>
              <a:rect r="r" b="b" t="t" l="l"/>
              <a:pathLst>
                <a:path h="812800" w="1233021">
                  <a:moveTo>
                    <a:pt x="1233021" y="406400"/>
                  </a:moveTo>
                  <a:lnTo>
                    <a:pt x="826621" y="0"/>
                  </a:lnTo>
                  <a:lnTo>
                    <a:pt x="826621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826621" y="609600"/>
                  </a:lnTo>
                  <a:lnTo>
                    <a:pt x="826621" y="812800"/>
                  </a:lnTo>
                  <a:lnTo>
                    <a:pt x="1233021" y="406400"/>
                  </a:lnTo>
                  <a:close/>
                </a:path>
              </a:pathLst>
            </a:custGeom>
            <a:solidFill>
              <a:srgbClr val="A9D0D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46050"/>
              <a:ext cx="113142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21036" y="7218365"/>
            <a:ext cx="16492141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true" strike="noStrike" u="non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Les analyses réalisées ont permis d'identifier des leviers d'amélioration pour la fidélisation client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true" strike="noStrike" u="none">
                <a:solidFill>
                  <a:srgbClr val="000000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 et la croissance du chiffre d'affaires.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5782" y="3314705"/>
            <a:ext cx="16076435" cy="392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</a:pPr>
            <a:r>
              <a:rPr lang="en-US" sz="14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Merci de votre attention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-889330" y="-522642"/>
            <a:ext cx="2824129" cy="2669935"/>
          </a:xfrm>
          <a:custGeom>
            <a:avLst/>
            <a:gdLst/>
            <a:ahLst/>
            <a:cxnLst/>
            <a:rect r="r" b="b" t="t" l="l"/>
            <a:pathLst>
              <a:path h="2669935" w="2824129">
                <a:moveTo>
                  <a:pt x="0" y="0"/>
                </a:moveTo>
                <a:lnTo>
                  <a:pt x="2824129" y="0"/>
                </a:lnTo>
                <a:lnTo>
                  <a:pt x="2824129" y="2669935"/>
                </a:lnTo>
                <a:lnTo>
                  <a:pt x="0" y="266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65807" y="7573036"/>
            <a:ext cx="3389014" cy="3370529"/>
          </a:xfrm>
          <a:custGeom>
            <a:avLst/>
            <a:gdLst/>
            <a:ahLst/>
            <a:cxnLst/>
            <a:rect r="r" b="b" t="t" l="l"/>
            <a:pathLst>
              <a:path h="3370529" w="3389014">
                <a:moveTo>
                  <a:pt x="0" y="0"/>
                </a:moveTo>
                <a:lnTo>
                  <a:pt x="3389014" y="0"/>
                </a:lnTo>
                <a:lnTo>
                  <a:pt x="3389014" y="3370528"/>
                </a:lnTo>
                <a:lnTo>
                  <a:pt x="0" y="33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7359037">
            <a:off x="14641876" y="7248134"/>
            <a:ext cx="4005497" cy="3488424"/>
          </a:xfrm>
          <a:custGeom>
            <a:avLst/>
            <a:gdLst/>
            <a:ahLst/>
            <a:cxnLst/>
            <a:rect r="r" b="b" t="t" l="l"/>
            <a:pathLst>
              <a:path h="3488424" w="4005497">
                <a:moveTo>
                  <a:pt x="4005497" y="3488424"/>
                </a:moveTo>
                <a:lnTo>
                  <a:pt x="0" y="3488424"/>
                </a:lnTo>
                <a:lnTo>
                  <a:pt x="0" y="0"/>
                </a:lnTo>
                <a:lnTo>
                  <a:pt x="4005497" y="0"/>
                </a:lnTo>
                <a:lnTo>
                  <a:pt x="4005497" y="348842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408298"/>
            <a:ext cx="808054" cy="80805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253043" y="-393959"/>
            <a:ext cx="3341623" cy="3457853"/>
          </a:xfrm>
          <a:custGeom>
            <a:avLst/>
            <a:gdLst/>
            <a:ahLst/>
            <a:cxnLst/>
            <a:rect r="r" b="b" t="t" l="l"/>
            <a:pathLst>
              <a:path h="3457853" w="3341623">
                <a:moveTo>
                  <a:pt x="0" y="0"/>
                </a:moveTo>
                <a:lnTo>
                  <a:pt x="3341623" y="0"/>
                </a:lnTo>
                <a:lnTo>
                  <a:pt x="3341623" y="3457853"/>
                </a:lnTo>
                <a:lnTo>
                  <a:pt x="0" y="34578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DAHL5HoyvOU</dc:identifier>
  <dcterms:modified xsi:type="dcterms:W3CDTF">2011-08-01T06:04:30Z</dcterms:modified>
  <cp:revision>1</cp:revision>
  <dc:title>Présentation DDDM</dc:title>
</cp:coreProperties>
</file>